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Helvetica Neue"/>
              </a:rPr>
              <a:t>Cardon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56032"/>
            <a:ext cx="117344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Helvetica Neue"/>
              </a:rPr>
              <a:t>Turbin3 Builders Cohort — Capstone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D0D0D"/>
                </a:solidFill>
                <a:latin typeface="Helvetica Neue"/>
              </a:rPr>
              <a:t>An on-chain transaction firewall
for Solana AI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1188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Helvetica Neue"/>
              </a:rPr>
              <a:t>Cardon sits between an autonomous agent and the network. Every transaction is simulated, checked against a policy stored in an Anchor program, and either auto-approved, queued for human review, or rejected. Because the policy lives on-chain, no operator can quietly raise a spend cap.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5532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 Neue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33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256D8"/>
                </a:solidFill>
                <a:latin typeface="Helvetica Neue"/>
              </a:rPr>
              <a:t>cardon-protocol.vercel.app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321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Helvetica Neue"/>
              </a:rPr>
              <a:t>Program ID (devnet)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5833872"/>
            <a:ext cx="6766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0D0D"/>
                </a:solidFill>
                <a:latin typeface="Helvetica Neue"/>
              </a:rPr>
              <a:t>5Zy73PLH2hpNvsCvyeqpn2tKjHBXNihjX7UbeAZ41tQc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Cardon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11825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0A0"/>
                </a:solidFill>
                <a:latin typeface="Helvetica Neue"/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cardon-protocol.vercel.app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Helvetica Neue"/>
              </a:rPr>
              <a:t>The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54864" cy="274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2646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Helvetica Neue"/>
              </a:rPr>
              <a:t>No firewall between intent and the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9222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Autonomous agents sign and broadcast transactions on their own. A single bad prompt, jailbreak, or model regression can drain an entire hot wallet — instantly and irreversibly.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54864" cy="274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8437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Helvetica Neue"/>
              </a:rPr>
              <a:t>Centralized policy is silently mutable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0954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Existing products run policy as centralized middleware. Anyone with code access can quietly raise a spend cap or remove a kill switch with no audit trail visible to token holders.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97680"/>
            <a:ext cx="54864" cy="2743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6110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D0D0D"/>
                </a:solidFill>
                <a:latin typeface="Helvetica Neue"/>
              </a:rPr>
              <a:t>No programmable 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26864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There is no standard on-chain primitive to pause high-value transactions and route them to a human approver before they hit the network.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650992"/>
            <a:ext cx="11274552" cy="54864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1500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Helvetica Neue"/>
              </a:rPr>
              <a:t>"One bad prompt can drain a hot wallet — and there is currently no firewall between an agent's intent and the network."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Cardon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11825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0A0"/>
                </a:solidFill>
                <a:latin typeface="Helvetica Neue"/>
              </a:rPr>
              <a:t>The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cardon-protocol.vercel.app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Helvetica Neue"/>
              </a:rPr>
              <a:t>The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63040"/>
            <a:ext cx="3566160" cy="1737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7276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Helvetica Neue"/>
              </a:rPr>
              <a:t>1  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29968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Every transaction is run through RPC simulation before anything is signed.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463040"/>
            <a:ext cx="3566160" cy="1737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57276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Helvetica Neue"/>
              </a:rPr>
              <a:t>2  Check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29968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Checked on-chain: per-tx cap, program allowlist, daily volume ceiling, kill switch.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83296" y="1463040"/>
            <a:ext cx="3566160" cy="173736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57276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Helvetica Neue"/>
              </a:rPr>
              <a:t>3  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029968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Helvetica Neue"/>
              </a:rPr>
              <a:t>Under threshold → auto-approve.  Over threshold → queue for human.  Cap hit → reject.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364992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0D0D"/>
                </a:solidFill>
                <a:latin typeface="Helvetica Neue"/>
              </a:rPr>
              <a:t>Key Benefits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2"/>
            <a:ext cx="640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0D"/>
                </a:solidFill>
                <a:latin typeface="Helvetica Neue"/>
              </a:rPr>
              <a:t>Immutable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27939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Policy authority can be a Squads multisig or DAO — rotating rules is an on-chain transaction, not a config push.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005072"/>
            <a:ext cx="640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39319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0D"/>
                </a:solidFill>
                <a:latin typeface="Helvetica Neue"/>
              </a:rPr>
              <a:t>Full audit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427939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Every approval, rejection, and policy change is emitted as a log event, indexed off-chain via Helius.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02352"/>
            <a:ext cx="640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0D"/>
                </a:solidFill>
                <a:latin typeface="Helvetica Neue"/>
              </a:rPr>
              <a:t>Human-in-the-loop built 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537667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High-value transactions are automatically queued for human review before broadcasting.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5080" y="5102352"/>
            <a:ext cx="6400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56248" y="5029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0D0D"/>
                </a:solidFill>
                <a:latin typeface="Helvetica Neue"/>
              </a:rPr>
              <a:t>Zero-trust kill switch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56248" y="5376672"/>
            <a:ext cx="5303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Helvetica Neue"/>
              </a:rPr>
              <a:t>set_enabled can freeze an agent instantly — no operator coordination or code deploy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Helvetica Neue"/>
              </a:rPr>
              <a:t>Cardon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73152"/>
            <a:ext cx="11825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A0A0"/>
                </a:solidFill>
                <a:latin typeface="Helvetica Neue"/>
              </a:rPr>
              <a:t>Verified on Devnet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Helvetica Neue"/>
              </a:rPr>
              <a:t>cardon-protocol.vercel.app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565392"/>
            <a:ext cx="118259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Helvetica Neue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836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0D0D"/>
                </a:solidFill>
                <a:latin typeface="Helvetica Neue"/>
              </a:rPr>
              <a:t>All 9 Tests Passing on Devnet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11277295" cy="13716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138160" cy="354787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823960" y="1463040"/>
            <a:ext cx="2907792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53619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Helvetica Neue"/>
              </a:rPr>
              <a:t>NETWORK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37360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Helvetica Neue"/>
              </a:rPr>
              <a:t>Solana Devnet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322576"/>
            <a:ext cx="2907792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39572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Helvetica Neue"/>
              </a:rPr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96896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  <a:latin typeface="Helvetica Neue"/>
              </a:rPr>
              <a:t>9 / 9 passing 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23960" y="3182112"/>
            <a:ext cx="2907792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325526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Helvetica Neue"/>
              </a:rPr>
              <a:t>PROGRAM 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456432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0D0D"/>
                </a:solidFill>
                <a:latin typeface="Helvetica Neue"/>
              </a:rPr>
              <a:t>5Zy73PLH2hpN
vsCvyeqpn2tKjHBXNihjX7UbeAZ41tQc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4041648"/>
            <a:ext cx="2907792" cy="749808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411480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B7280"/>
                </a:solidFill>
                <a:latin typeface="Helvetica Neue"/>
              </a:rPr>
              <a:t>LIVE SITE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315968"/>
            <a:ext cx="2724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256D8"/>
                </a:solidFill>
                <a:latin typeface="Helvetica Neue"/>
              </a:rPr>
              <a:t>cardon-protocol
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